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6"/>
  </p:notesMasterIdLst>
  <p:handoutMasterIdLst>
    <p:handoutMasterId r:id="rId17"/>
  </p:handoutMasterIdLst>
  <p:sldIdLst>
    <p:sldId id="278" r:id="rId5"/>
    <p:sldId id="282" r:id="rId6"/>
    <p:sldId id="271" r:id="rId7"/>
    <p:sldId id="283" r:id="rId8"/>
    <p:sldId id="284" r:id="rId9"/>
    <p:sldId id="285" r:id="rId10"/>
    <p:sldId id="286" r:id="rId11"/>
    <p:sldId id="287" r:id="rId12"/>
    <p:sldId id="289" r:id="rId13"/>
    <p:sldId id="288" r:id="rId14"/>
    <p:sldId id="292" r:id="rId1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B1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5388" autoAdjust="0"/>
  </p:normalViewPr>
  <p:slideViewPr>
    <p:cSldViewPr snapToGrid="0">
      <p:cViewPr varScale="1">
        <p:scale>
          <a:sx n="91" d="100"/>
          <a:sy n="91" d="100"/>
        </p:scale>
        <p:origin x="322" y="53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82" d="100"/>
          <a:sy n="82" d="100"/>
        </p:scale>
        <p:origin x="39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BC1A1616-714D-4ADA-BBBA-B34ABEEC5283}" type="datetime1">
              <a:rPr lang="ru-RU" smtClean="0"/>
              <a:t>24.05.2026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CFA70580-B89C-4157-871D-6B9318EE5F58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fld id="{A8D124BC-5E8F-4686-A3D0-46BF78A79F81}" type="datetime1">
              <a:rPr lang="ru-RU" smtClean="0"/>
              <a:pPr/>
              <a:t>24.05.2026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ru-RU"/>
            </a:defPPr>
          </a:lstStyle>
          <a:p>
            <a:pPr lvl="0" rtl="0"/>
            <a:r>
              <a:rPr lang="ru-RU"/>
              <a:t>Щелкните, чтобы изменить стили текста образца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E7AF00E9-A49D-4007-B3B9-A3783809E50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ru-RU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31917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3163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3056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1674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61087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281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E7AF00E9-A49D-4007-B3B9-A3783809E505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9693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ru-RU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86820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5" name="Овал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6" name="Овал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7" name="Полилиния: Фигура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rtlCol="0" anchor="b">
            <a:norm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22" name="Объект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" name="Дата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1" name="Овал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Полилиния: фигура 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Полилиния: фигура 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6" name="Овал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Полилиния: Фигура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9" name="Овал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332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0863" y="4045464"/>
            <a:ext cx="11115355" cy="2286000"/>
          </a:xfrm>
        </p:spPr>
        <p:txBody>
          <a:bodyPr rtlCol="0" anchor="ctr">
            <a:noAutofit/>
          </a:bodyPr>
          <a:lstStyle>
            <a:lvl1pPr algn="l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94"/>
            <a:ext cx="12192000" cy="3771878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57BF9F63-86BE-5515-AD3C-59481B3FF4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225773" y="385222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899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Полилиния: фигура 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grpSp>
          <p:nvGrpSpPr>
            <p:cNvPr id="9" name="Группа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Полилиния: фигура 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  <p:sp>
            <p:nvSpPr>
              <p:cNvPr id="11" name="Овал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ru-RU"/>
                </a:defPPr>
              </a:lstStyle>
              <a:p>
                <a:pPr algn="ctr" rtl="0"/>
                <a:endParaRPr lang="ru-RU" dirty="0">
                  <a:latin typeface="Calibri" panose="020F0502020204030204" pitchFamily="34" charset="0"/>
                </a:endParaRPr>
              </a:p>
            </p:txBody>
          </p:sp>
        </p:grp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Полилиния: Фигура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ru-RU" sz="40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 rtlCol="0">
            <a:normAutofit/>
          </a:bodyPr>
          <a:lstStyle>
            <a:lvl1pPr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0994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Заголовок + под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>
            <a:extLst>
              <a:ext uri="{FF2B5EF4-FFF2-40B4-BE49-F238E27FC236}">
                <a16:creationId xmlns:a16="http://schemas.microsoft.com/office/drawing/2014/main" id="{096D26C0-4AFC-33CC-99BE-317E9A84435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 lang="ru-RU" sz="2000"/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376680"/>
            <a:ext cx="9144000" cy="2286000"/>
          </a:xfrm>
        </p:spPr>
        <p:txBody>
          <a:bodyPr rtlCol="0" anchor="b">
            <a:noAutofit/>
          </a:bodyPr>
          <a:lstStyle>
            <a:lvl1pPr algn="ctr">
              <a:defRPr lang="ru-RU" sz="5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799840"/>
            <a:ext cx="9144000" cy="2286000"/>
          </a:xfrm>
        </p:spPr>
        <p:txBody>
          <a:bodyPr rtlCol="0">
            <a:noAutofit/>
          </a:bodyPr>
          <a:lstStyle>
            <a:lvl1pPr marL="0" indent="0" algn="ctr">
              <a:buNone/>
              <a:defRPr lang="ru-RU" sz="18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3552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 содержимого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6119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одержимое + рисунок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974" y="196900"/>
            <a:ext cx="4899628" cy="2331490"/>
          </a:xfrm>
        </p:spPr>
        <p:txBody>
          <a:bodyPr rtlCol="0" anchor="b" anchorCtr="0">
            <a:noAutofit/>
          </a:bodyPr>
          <a:lstStyle>
            <a:lvl1pPr algn="r"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83162" y="2827209"/>
            <a:ext cx="4917440" cy="3442144"/>
          </a:xfrm>
        </p:spPr>
        <p:txBody>
          <a:bodyPr rtlCol="0">
            <a:normAutofit/>
          </a:bodyPr>
          <a:lstStyle>
            <a:lvl1pPr marL="0" indent="0" algn="r">
              <a:buNone/>
              <a:defRPr lang="ru-RU" sz="1800">
                <a:solidFill>
                  <a:schemeClr val="tx1"/>
                </a:solidFill>
              </a:defRPr>
            </a:lvl1pPr>
            <a:lvl2pPr algn="r">
              <a:defRPr lang="ru-RU" sz="1200">
                <a:solidFill>
                  <a:schemeClr val="tx1"/>
                </a:solidFill>
              </a:defRPr>
            </a:lvl2pPr>
            <a:lvl3pPr algn="r">
              <a:defRPr lang="ru-RU" sz="1200">
                <a:solidFill>
                  <a:schemeClr val="tx1"/>
                </a:solidFill>
              </a:defRPr>
            </a:lvl3pPr>
            <a:lvl4pPr algn="r">
              <a:defRPr lang="ru-RU" sz="1200">
                <a:solidFill>
                  <a:schemeClr val="tx1"/>
                </a:solidFill>
              </a:defRPr>
            </a:lvl4pPr>
            <a:lvl5pPr algn="r"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5588" y="0"/>
            <a:ext cx="6095998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Вставка рисунка</a:t>
            </a: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904CD02-7C7D-28DD-85A8-2FD92C29D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9" name="Полилиния 5">
              <a:extLst>
                <a:ext uri="{FF2B5EF4-FFF2-40B4-BE49-F238E27FC236}">
                  <a16:creationId xmlns:a16="http://schemas.microsoft.com/office/drawing/2014/main" id="{FB7341D0-DC30-9661-B3E0-91DE7C37946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0" name="Полилиния 6">
              <a:extLst>
                <a:ext uri="{FF2B5EF4-FFF2-40B4-BE49-F238E27FC236}">
                  <a16:creationId xmlns:a16="http://schemas.microsoft.com/office/drawing/2014/main" id="{92A118B5-9F91-EA1B-3F95-6BFA5095544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Полилиния 8">
              <a:extLst>
                <a:ext uri="{FF2B5EF4-FFF2-40B4-BE49-F238E27FC236}">
                  <a16:creationId xmlns:a16="http://schemas.microsoft.com/office/drawing/2014/main" id="{208891A5-91FA-D924-CB46-E74B50635001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Овал 14">
            <a:extLst>
              <a:ext uri="{FF2B5EF4-FFF2-40B4-BE49-F238E27FC236}">
                <a16:creationId xmlns:a16="http://schemas.microsoft.com/office/drawing/2014/main" id="{BE5F7483-2261-D4C4-30E3-2D379D8CA0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617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одержимое +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rtlCol="0" anchor="t" anchorCtr="0">
            <a:noAutofit/>
          </a:bodyPr>
          <a:lstStyle>
            <a:lvl1pPr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200">
                <a:solidFill>
                  <a:schemeClr val="tx1"/>
                </a:solidFill>
              </a:defRPr>
            </a:lvl2pPr>
            <a:lvl3pPr>
              <a:defRPr lang="ru-RU" sz="1200">
                <a:solidFill>
                  <a:schemeClr val="tx1"/>
                </a:solidFill>
              </a:defRPr>
            </a:lvl3pPr>
            <a:lvl4pPr>
              <a:defRPr lang="ru-RU" sz="1200">
                <a:solidFill>
                  <a:schemeClr val="tx1"/>
                </a:solidFill>
              </a:defRPr>
            </a:lvl4pPr>
            <a:lvl5pPr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8" name="Заполнитель таблицы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 rtlCol="0">
            <a:normAutofit/>
          </a:bodyPr>
          <a:lstStyle>
            <a:lvl1pPr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таблицу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CBD12358-51D2-46B3-9BDE-DF29528B9454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9083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Овал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 rtlCol="0">
            <a:normAutofit/>
          </a:bodyPr>
          <a:lstStyle>
            <a:lvl1pPr>
              <a:lnSpc>
                <a:spcPct val="100000"/>
              </a:lnSpc>
              <a:defRPr lang="ru-RU" sz="40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Полилиния: Фигура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15" name="Полилиния: Фигура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21" name="Овал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 dirty="0"/>
              <a:t>Щелкните, чтобы добавить содержимое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>
                <a:solidFill>
                  <a:schemeClr val="tx1"/>
                </a:solidFill>
              </a:defRPr>
            </a:lvl1pPr>
            <a:lvl2pPr>
              <a:defRPr lang="ru-RU" sz="1800">
                <a:solidFill>
                  <a:schemeClr val="tx1"/>
                </a:solidFill>
              </a:defRPr>
            </a:lvl2pPr>
            <a:lvl3pPr>
              <a:defRPr lang="ru-RU" sz="1800">
                <a:solidFill>
                  <a:schemeClr val="tx1"/>
                </a:solidFill>
              </a:defRPr>
            </a:lvl3pPr>
            <a:lvl4pPr>
              <a:defRPr lang="ru-RU" sz="1800">
                <a:solidFill>
                  <a:schemeClr val="tx1"/>
                </a:solidFill>
              </a:defRPr>
            </a:lvl4pPr>
            <a:lvl5pPr>
              <a:defRPr lang="ru-RU" sz="18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7165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ru-RU" sz="5400" dirty="0"/>
            </a:lvl1pPr>
          </a:lstStyle>
          <a:p>
            <a:pPr lvl="0" rtl="0">
              <a:lnSpc>
                <a:spcPct val="100000"/>
              </a:lnSpc>
            </a:pPr>
            <a:r>
              <a:rPr lang="ru-RU"/>
              <a:t>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lang="ru-RU" sz="1200">
                <a:solidFill>
                  <a:schemeClr val="tx1"/>
                </a:solidFill>
              </a:defRPr>
            </a:lvl5pPr>
          </a:lstStyle>
          <a:p>
            <a:pPr lvl="0" rtl="0"/>
            <a:r>
              <a:rPr lang="ru-RU"/>
              <a:t>Щелкните, чтобы добавить содержимое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Рисунок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ru-RU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ru-RU"/>
              <a:t>Щелкните значок, чтобы вставить рисунок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Полилиния: фигура 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1" name="Овал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Полилиния: Фигура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Овал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4" name="Дата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607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59149" y="389840"/>
            <a:ext cx="8281987" cy="2954655"/>
          </a:xfrm>
        </p:spPr>
        <p:txBody>
          <a:bodyPr rtlCol="0" anchor="t" anchorCtr="0">
            <a:normAutofit/>
          </a:bodyPr>
          <a:lstStyle>
            <a:lvl1pPr algn="l">
              <a:lnSpc>
                <a:spcPct val="100000"/>
              </a:lnSpc>
              <a:defRPr lang="ru-RU" sz="64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59149" y="3536951"/>
            <a:ext cx="8281989" cy="2555874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lang="ru-RU" sz="2400">
                <a:solidFill>
                  <a:schemeClr val="tx1"/>
                </a:solidFill>
              </a:defRPr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 dirty="0"/>
              <a:t>Подзаголовок слайда 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/>
              <a:t>20ГГ</a:t>
            </a:r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ru-RU"/>
            </a:defPPr>
          </a:lstStyle>
          <a:p>
            <a:pPr rtl="0"/>
            <a:fld id="{DBA1B0FB-D917-4C8C-928F-313BD683BF39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82184FF4-7029-4ED7-813A-192E60608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AAA7AB09-557C-41AD-9113-FF9F68FA1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EF99ECAA-1F11-4937-BBA6-51935AB44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9DE9FAB-6BBA-4CFE-B67D-77B47F01E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Полилиния: Фигура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6" name="Полилиния: Фигура 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ru-RU"/>
              </a:defPPr>
            </a:lstStyle>
            <a:p>
              <a:pPr algn="ctr" rtl="0"/>
              <a:endParaRPr lang="ru-RU" dirty="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38" name="Овал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123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>
            <a:defPPr>
              <a:defRPr lang="ru-RU"/>
            </a:defPPr>
          </a:lstStyle>
          <a:p>
            <a:pPr lvl="0" rtl="0">
              <a:lnSpc>
                <a:spcPct val="100000"/>
              </a:lnSpc>
            </a:pPr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ru-RU"/>
              <a:t>20ГГ</a:t>
            </a:r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ru-RU" dirty="0">
              <a:latin typeface="Calibri" panose="020F0502020204030204" pitchFamily="34" charset="0"/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ru-RU" sz="100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BA1B0FB-D917-4C8C-928F-313BD683BF39}" type="slidenum">
              <a:rPr lang="ru-RU" smtClean="0"/>
              <a:pPr/>
              <a:t>‹#›</a:t>
            </a:fld>
            <a:endParaRPr lang="ru-RU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2557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6" r:id="rId3"/>
    <p:sldLayoutId id="2147483703" r:id="rId4"/>
    <p:sldLayoutId id="2147483698" r:id="rId5"/>
    <p:sldLayoutId id="2147483704" r:id="rId6"/>
    <p:sldLayoutId id="2147483699" r:id="rId7"/>
    <p:sldLayoutId id="2147483700" r:id="rId8"/>
    <p:sldLayoutId id="2147483688" r:id="rId9"/>
    <p:sldLayoutId id="2147483686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lang="ru-RU" sz="24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lang="ru-RU" sz="160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187" y="352546"/>
            <a:ext cx="4624442" cy="4957686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r>
              <a:rPr lang="ru-RU" sz="4000" dirty="0"/>
              <a:t>Интеллектуальный анализ и прогнозирование антивирусной активности соединений против гриппа.</a:t>
            </a:r>
          </a:p>
        </p:txBody>
      </p:sp>
      <p:pic>
        <p:nvPicPr>
          <p:cNvPr id="8" name="Рисунок 13" descr="Цифровой фон точек данных">
            <a:extLst>
              <a:ext uri="{FF2B5EF4-FFF2-40B4-BE49-F238E27FC236}">
                <a16:creationId xmlns:a16="http://schemas.microsoft.com/office/drawing/2014/main" id="{53227D59-33F9-9DDB-1C5C-A938A989EE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6" r="7936"/>
          <a:stretch/>
        </p:blipFill>
        <p:spPr>
          <a:xfrm>
            <a:off x="0" y="0"/>
            <a:ext cx="6267450" cy="6858000"/>
          </a:xfr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0F1939-B024-4FD6-B58E-D69A242F91FE}"/>
              </a:ext>
            </a:extLst>
          </p:cNvPr>
          <p:cNvSpPr txBox="1"/>
          <p:nvPr/>
        </p:nvSpPr>
        <p:spPr>
          <a:xfrm>
            <a:off x="6477984" y="5674449"/>
            <a:ext cx="57548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Решение команды </a:t>
            </a:r>
            <a:r>
              <a:rPr lang="en-US" sz="1600" dirty="0"/>
              <a:t>“</a:t>
            </a:r>
            <a:r>
              <a:rPr lang="ru-RU" sz="1600" dirty="0"/>
              <a:t>ДПО Команда 1</a:t>
            </a:r>
            <a:r>
              <a:rPr lang="en-US" sz="1600" dirty="0"/>
              <a:t>” </a:t>
            </a:r>
          </a:p>
          <a:p>
            <a:r>
              <a:rPr lang="ru-RU" sz="1600" dirty="0"/>
              <a:t>Роли:</a:t>
            </a:r>
          </a:p>
          <a:p>
            <a:r>
              <a:rPr lang="ru-RU" sz="1600" dirty="0"/>
              <a:t>Борис Олегович - </a:t>
            </a:r>
            <a:r>
              <a:rPr lang="en-US" sz="1600" dirty="0"/>
              <a:t>Data Engineer</a:t>
            </a:r>
            <a:endParaRPr lang="ru-RU" sz="1600" dirty="0"/>
          </a:p>
          <a:p>
            <a:r>
              <a:rPr lang="ru-RU" sz="1600" dirty="0"/>
              <a:t>Виктор Борисов - </a:t>
            </a:r>
            <a:r>
              <a:rPr lang="en-US" sz="1600" dirty="0"/>
              <a:t>ML Engineer</a:t>
            </a:r>
            <a:endParaRPr lang="ru-RU" sz="1600" dirty="0"/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09063"/>
            <a:ext cx="11090275" cy="632798"/>
          </a:xfrm>
        </p:spPr>
        <p:txBody>
          <a:bodyPr rtlCol="0"/>
          <a:lstStyle>
            <a:defPPr>
              <a:defRPr lang="ru-RU"/>
            </a:defPPr>
          </a:lstStyle>
          <a:p>
            <a:pPr algn="ctr"/>
            <a:r>
              <a:rPr lang="ru-RU" dirty="0"/>
              <a:t>Проблема и Бизнес-логика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5ED567A0-055A-4C9F-8BD9-90155155B4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1325" y="1017451"/>
            <a:ext cx="3249350" cy="632798"/>
          </a:xfrm>
        </p:spPr>
        <p:txBody>
          <a:bodyPr/>
          <a:lstStyle/>
          <a:p>
            <a:pPr algn="ctr"/>
            <a:r>
              <a:rPr lang="ru-RU" b="1" dirty="0"/>
              <a:t>Классический </a:t>
            </a:r>
            <a:r>
              <a:rPr lang="en-US" b="1" dirty="0"/>
              <a:t>QSAR-</a:t>
            </a:r>
            <a:r>
              <a:rPr lang="ru-RU" sz="2000" b="1" dirty="0"/>
              <a:t>скрининг</a:t>
            </a:r>
            <a:r>
              <a:rPr lang="ru-RU" b="1" dirty="0"/>
              <a:t> (</a:t>
            </a:r>
            <a:r>
              <a:rPr lang="en-US" b="1" dirty="0"/>
              <a:t>In Silico)</a:t>
            </a:r>
            <a:endParaRPr lang="ru-RU" b="1" dirty="0"/>
          </a:p>
        </p:txBody>
      </p:sp>
      <p:sp>
        <p:nvSpPr>
          <p:cNvPr id="6" name="Объект 4">
            <a:extLst>
              <a:ext uri="{FF2B5EF4-FFF2-40B4-BE49-F238E27FC236}">
                <a16:creationId xmlns:a16="http://schemas.microsoft.com/office/drawing/2014/main" id="{306D8C92-49C0-422C-A258-78C234AF1285}"/>
              </a:ext>
            </a:extLst>
          </p:cNvPr>
          <p:cNvSpPr txBox="1">
            <a:spLocks/>
          </p:cNvSpPr>
          <p:nvPr/>
        </p:nvSpPr>
        <p:spPr>
          <a:xfrm>
            <a:off x="550862" y="1014510"/>
            <a:ext cx="3249351" cy="63279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ru-RU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dirty="0"/>
              <a:t>Терапевтическое окно антивирусного препарата</a:t>
            </a:r>
            <a:endParaRPr lang="en-US" b="1" dirty="0"/>
          </a:p>
        </p:txBody>
      </p:sp>
      <p:sp>
        <p:nvSpPr>
          <p:cNvPr id="10" name="Объект 4">
            <a:extLst>
              <a:ext uri="{FF2B5EF4-FFF2-40B4-BE49-F238E27FC236}">
                <a16:creationId xmlns:a16="http://schemas.microsoft.com/office/drawing/2014/main" id="{C8D21BA6-83FA-4ABE-BD88-0071834BB7D2}"/>
              </a:ext>
            </a:extLst>
          </p:cNvPr>
          <p:cNvSpPr txBox="1">
            <a:spLocks/>
          </p:cNvSpPr>
          <p:nvPr/>
        </p:nvSpPr>
        <p:spPr>
          <a:xfrm>
            <a:off x="8391786" y="1014510"/>
            <a:ext cx="3249350" cy="632798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defPPr>
              <a:defRPr lang="ru-RU"/>
            </a:defPPr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lang="ru-RU"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2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/>
              <a:t>Обоснование </a:t>
            </a:r>
            <a:r>
              <a:rPr lang="en-US" b="1" dirty="0"/>
              <a:t>Target Engineering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753631-A061-421B-986C-EE9FB06C4A8D}"/>
              </a:ext>
            </a:extLst>
          </p:cNvPr>
          <p:cNvSpPr txBox="1"/>
          <p:nvPr/>
        </p:nvSpPr>
        <p:spPr>
          <a:xfrm>
            <a:off x="550862" y="1915860"/>
            <a:ext cx="324935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Проблема: Экспериментальный синтез миллионов соединений в лабораториях длится годами и стоит миллионы.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Решение: Использование ML для виртуального скрининга.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Инженерный вызов: Набор данных ограничен (всего 750 молекул), а физико-химические дескрипторы </a:t>
            </a:r>
            <a:r>
              <a:rPr lang="ru-RU" sz="1600" dirty="0" err="1"/>
              <a:t>RDKit</a:t>
            </a:r>
            <a:r>
              <a:rPr lang="ru-RU" sz="1600" dirty="0"/>
              <a:t> содержат тяжелые распределения, способные запутать базовые алгоритмы.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B2270-64A8-492D-BE70-D816AF5878E7}"/>
                  </a:ext>
                </a:extLst>
              </p:cNvPr>
              <p:cNvSpPr txBox="1"/>
              <p:nvPr/>
            </p:nvSpPr>
            <p:spPr>
              <a:xfrm>
                <a:off x="4471323" y="1915860"/>
                <a:ext cx="3249351" cy="47705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Эффективность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 smtClean="0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1600" dirty="0"/>
                  <a:t>): </a:t>
                </a:r>
                <a:r>
                  <a:rPr lang="ru-RU" sz="1600" dirty="0"/>
                  <a:t>Концентрация, убивающая 50% вируса. Препарат должен работать в минимальных дозах. Чем меньше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𝐼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ru-RU" sz="1600" dirty="0"/>
                  <a:t>, тем лучше.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Токсичность </a:t>
                </a:r>
                <a:r>
                  <a:rPr lang="en-US" sz="16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en-US" sz="1600" dirty="0"/>
                  <a:t>): </a:t>
                </a:r>
                <a:r>
                  <a:rPr lang="ru-RU" sz="1600" dirty="0"/>
                  <a:t>Концентрация, разрушающая 50% здоровых клеток хозяина. Препарат должен быть безопасным. Чем выше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50</m:t>
                        </m:r>
                      </m:sub>
                    </m:sSub>
                  </m:oMath>
                </a14:m>
                <a:r>
                  <a:rPr lang="ru-RU" sz="1600" dirty="0"/>
                  <a:t>, тем лучше.</a:t>
                </a: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600" dirty="0"/>
                  <a:t>Баланс (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𝑆𝐼</m:t>
                    </m:r>
                  </m:oMath>
                </a14:m>
                <a:r>
                  <a:rPr lang="ru-RU" sz="1600" dirty="0"/>
                  <a:t>): Индекс селективности. Главный маркер безопасности. Он показывает, насколько доза, убивающая вирус, далека от дозы, убивающей самого пациента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B5B2270-64A8-492D-BE70-D816AF587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323" y="1915860"/>
                <a:ext cx="3249351" cy="4770537"/>
              </a:xfrm>
              <a:prstGeom prst="rect">
                <a:avLst/>
              </a:prstGeom>
              <a:blipFill>
                <a:blip r:embed="rId3"/>
                <a:stretch>
                  <a:fillRect l="-749" t="-511" r="-2622" b="-63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405A9E-31B3-4969-8EFF-FE95E0C62C23}"/>
                  </a:ext>
                </a:extLst>
              </p:cNvPr>
              <p:cNvSpPr txBox="1"/>
              <p:nvPr/>
            </p:nvSpPr>
            <p:spPr>
              <a:xfrm>
                <a:off x="8391784" y="1775080"/>
                <a:ext cx="3249351" cy="4914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𝑆𝐼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</m:sSub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sSub>
                            <m:sSubPr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500" dirty="0"/>
                  <a:t>Анализ обучающей выборки показал, что максимальное отклонение реального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𝑆𝐼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500" dirty="0"/>
                  <a:t>от расчетного соотношения составляет всего </a:t>
                </a:r>
                <a:r>
                  <a:rPr lang="ru-RU" sz="1500" b="1" dirty="0"/>
                  <a:t>0.016</a:t>
                </a:r>
                <a:r>
                  <a:rPr lang="ru-RU" sz="1500" dirty="0"/>
                  <a:t> (чистая погрешность округления при экспорте)</a:t>
                </a:r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15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ru-RU" sz="1500" dirty="0"/>
                  <a:t>Базовые ML-модели склонны предсказывать </a:t>
                </a:r>
                <a14:m>
                  <m:oMath xmlns:m="http://schemas.openxmlformats.org/officeDocument/2006/math">
                    <m:r>
                      <a:rPr lang="en-US" sz="1500" i="1"/>
                      <m:t>𝑆𝐼</m:t>
                    </m:r>
                    <m:r>
                      <a:rPr lang="en-US" sz="1500" i="1"/>
                      <m:t> </m:t>
                    </m:r>
                  </m:oMath>
                </a14:m>
                <a:r>
                  <a:rPr lang="ru-RU" sz="1500" dirty="0"/>
                  <a:t>изолированно, нарушая физический смысл (разрушая пропорцию). Наша стратегия учитывает эту жесткую математическую связь, что страхует модель от некорректных выбросов на тестовой выборке.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8405A9E-31B3-4969-8EFF-FE95E0C62C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784" y="1775080"/>
                <a:ext cx="3249351" cy="4914487"/>
              </a:xfrm>
              <a:prstGeom prst="rect">
                <a:avLst/>
              </a:prstGeom>
              <a:blipFill>
                <a:blip r:embed="rId4"/>
                <a:stretch>
                  <a:fillRect l="-563" b="-4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4045464"/>
            <a:ext cx="11115355" cy="2286000"/>
          </a:xfrm>
          <a:noFill/>
        </p:spPr>
        <p:txBody>
          <a:bodyPr rtlCol="0" anchor="ctr"/>
          <a:lstStyle>
            <a:defPPr>
              <a:defRPr lang="ru-RU"/>
            </a:defPPr>
          </a:lstStyle>
          <a:p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Engineering</a:t>
            </a:r>
            <a:r>
              <a:rPr lang="ru-RU" dirty="0"/>
              <a:t> и Борьба с шумом</a:t>
            </a:r>
          </a:p>
        </p:txBody>
      </p:sp>
      <p:pic>
        <p:nvPicPr>
          <p:cNvPr id="11" name="Рисунок 15" descr="Цифровой фон точек данных">
            <a:extLst>
              <a:ext uri="{FF2B5EF4-FFF2-40B4-BE49-F238E27FC236}">
                <a16:creationId xmlns:a16="http://schemas.microsoft.com/office/drawing/2014/main" id="{A496DCE5-C34A-22C2-A9D8-E90DFC8CE86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" b="52"/>
          <a:stretch/>
        </p:blipFill>
        <p:spPr>
          <a:xfrm>
            <a:off x="0" y="4594"/>
            <a:ext cx="12192000" cy="3771878"/>
          </a:xfrm>
        </p:spPr>
      </p:pic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F00DDDCC-16AD-4567-B658-3583B0821967}"/>
              </a:ext>
            </a:extLst>
          </p:cNvPr>
          <p:cNvSpPr txBox="1">
            <a:spLocks/>
          </p:cNvSpPr>
          <p:nvPr/>
        </p:nvSpPr>
        <p:spPr>
          <a:xfrm>
            <a:off x="0" y="6429575"/>
            <a:ext cx="5262694" cy="8476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Амелякин Борис Олегович</a:t>
            </a:r>
          </a:p>
        </p:txBody>
      </p:sp>
    </p:spTree>
    <p:extLst>
      <p:ext uri="{BB962C8B-B14F-4D97-AF65-F5344CB8AC3E}">
        <p14:creationId xmlns:p14="http://schemas.microsoft.com/office/powerpoint/2010/main" val="1839748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Title 1">
            <a:extLst>
              <a:ext uri="{FF2B5EF4-FFF2-40B4-BE49-F238E27FC236}">
                <a16:creationId xmlns:a16="http://schemas.microsoft.com/office/drawing/2014/main" id="{C3073D10-5195-BB46-3316-85AF771EF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274420"/>
            <a:ext cx="11090275" cy="1109984"/>
          </a:xfrm>
        </p:spPr>
        <p:txBody>
          <a:bodyPr/>
          <a:lstStyle/>
          <a:p>
            <a:r>
              <a:rPr lang="ru-RU" dirty="0"/>
              <a:t>Лечение экстремальной асимметрии признаков</a:t>
            </a:r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5DBF6F48-C1EA-420C-97CB-37A606AC6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550864" y="3961941"/>
            <a:ext cx="11090274" cy="2412135"/>
          </a:xfrm>
          <a:prstGeom prst="rect">
            <a:avLst/>
          </a:prstGeom>
          <a:solidFill>
            <a:srgbClr val="FFFFFF"/>
          </a:solidFill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9D833210-3385-4401-8C8B-C9B93CF59083}"/>
              </a:ext>
            </a:extLst>
          </p:cNvPr>
          <p:cNvCxnSpPr/>
          <p:nvPr/>
        </p:nvCxnSpPr>
        <p:spPr>
          <a:xfrm>
            <a:off x="3258766" y="4455268"/>
            <a:ext cx="700391" cy="60311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Круг: прозрачная заливка 13">
            <a:extLst>
              <a:ext uri="{FF2B5EF4-FFF2-40B4-BE49-F238E27FC236}">
                <a16:creationId xmlns:a16="http://schemas.microsoft.com/office/drawing/2014/main" id="{5476226F-19A2-4196-A415-C8721C465BAF}"/>
              </a:ext>
            </a:extLst>
          </p:cNvPr>
          <p:cNvSpPr/>
          <p:nvPr/>
        </p:nvSpPr>
        <p:spPr>
          <a:xfrm>
            <a:off x="550862" y="4690018"/>
            <a:ext cx="850099" cy="772552"/>
          </a:xfrm>
          <a:prstGeom prst="donut">
            <a:avLst>
              <a:gd name="adj" fmla="val 7796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07077-BD1A-47D4-AF53-E82734356518}"/>
              </a:ext>
            </a:extLst>
          </p:cNvPr>
          <p:cNvSpPr txBox="1"/>
          <p:nvPr/>
        </p:nvSpPr>
        <p:spPr>
          <a:xfrm>
            <a:off x="550862" y="1683952"/>
            <a:ext cx="109392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Проблема: Дескриптор </a:t>
            </a:r>
            <a:r>
              <a:rPr lang="ru-RU" dirty="0" err="1"/>
              <a:t>Ipc</a:t>
            </a:r>
            <a:r>
              <a:rPr lang="ru-RU" dirty="0"/>
              <a:t> уходит в триллионы. Масштаб выбросов сжимает 99% полезных данных молекул в одну тонкую линию около нуля. Обычные </a:t>
            </a:r>
            <a:r>
              <a:rPr lang="ru-RU" dirty="0" err="1"/>
              <a:t>скалеры</a:t>
            </a:r>
            <a:r>
              <a:rPr lang="ru-RU" dirty="0"/>
              <a:t> (</a:t>
            </a:r>
            <a:r>
              <a:rPr lang="ru-RU" dirty="0" err="1"/>
              <a:t>Standard</a:t>
            </a:r>
            <a:r>
              <a:rPr lang="ru-RU" dirty="0"/>
              <a:t>/</a:t>
            </a:r>
            <a:r>
              <a:rPr lang="ru-RU" dirty="0" err="1"/>
              <a:t>MinMax</a:t>
            </a:r>
            <a:r>
              <a:rPr lang="ru-RU" dirty="0"/>
              <a:t>) здесь бессильны, они уничтожают вариативность, и деревья решений теряют способность делать качественные сплиты.</a:t>
            </a:r>
          </a:p>
          <a:p>
            <a:endParaRPr lang="ru-RU" dirty="0"/>
          </a:p>
          <a:p>
            <a:r>
              <a:rPr lang="ru-RU" dirty="0"/>
              <a:t>Решение: Реализован алгоритм выборочного динамического логарифмирования (log1p). Мы рассчитываем глобальный минимум признака по </a:t>
            </a:r>
            <a:r>
              <a:rPr lang="ru-RU" dirty="0" err="1"/>
              <a:t>обучаюйщей</a:t>
            </a:r>
            <a:r>
              <a:rPr lang="ru-RU" dirty="0"/>
              <a:t> выборке и тестовой одновременно для безопасного сдвига (</a:t>
            </a:r>
            <a:r>
              <a:rPr lang="ru-RU" dirty="0" err="1"/>
              <a:t>shift</a:t>
            </a:r>
            <a:r>
              <a:rPr lang="ru-RU" dirty="0"/>
              <a:t>) данных. Это полностью стабилизировало распределение </a:t>
            </a:r>
            <a:r>
              <a:rPr lang="ru-RU" dirty="0" err="1"/>
              <a:t>Ipc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8592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71F5EE-DAC1-4110-9D20-014B37857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9" y="709897"/>
            <a:ext cx="11895382" cy="11207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4B2391-81B1-44A1-8B82-3302A8501FE1}"/>
              </a:ext>
            </a:extLst>
          </p:cNvPr>
          <p:cNvSpPr txBox="1"/>
          <p:nvPr/>
        </p:nvSpPr>
        <p:spPr>
          <a:xfrm>
            <a:off x="486563" y="2417634"/>
            <a:ext cx="486561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Двумерные табличные дескрипторы </a:t>
            </a:r>
            <a:r>
              <a:rPr lang="ru-RU" sz="2000" dirty="0" err="1"/>
              <a:t>RDKit</a:t>
            </a:r>
            <a:r>
              <a:rPr lang="ru-RU" sz="2000" dirty="0"/>
              <a:t> оказались «слепы» к трехмерной структуре соединений (пространственным стереоизомерам). Из-за этого в данных возник парадокс: молекулы с абсолютно одинаковыми фичами имеют диаметрально противоположную биологическую активность в лаборатории. Для базовой модели это критический противоречивый шум.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0F4DC7-3652-4DA0-BAC7-74F445881887}"/>
              </a:ext>
            </a:extLst>
          </p:cNvPr>
          <p:cNvSpPr txBox="1"/>
          <p:nvPr/>
        </p:nvSpPr>
        <p:spPr>
          <a:xfrm>
            <a:off x="6839825" y="4395506"/>
            <a:ext cx="50501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Выявлено </a:t>
            </a:r>
            <a:r>
              <a:rPr lang="ru-RU" sz="2000" b="1" dirty="0"/>
              <a:t>18 константных</a:t>
            </a:r>
            <a:r>
              <a:rPr lang="ru-RU" sz="2000" dirty="0"/>
              <a:t> и </a:t>
            </a:r>
            <a:r>
              <a:rPr lang="ru-RU" sz="2000" b="1" dirty="0"/>
              <a:t>14 </a:t>
            </a:r>
            <a:r>
              <a:rPr lang="ru-RU" sz="2000" b="1" dirty="0" err="1"/>
              <a:t>квазиконстантных</a:t>
            </a:r>
            <a:r>
              <a:rPr lang="ru-RU" sz="2000" dirty="0"/>
              <a:t> признаков функциональных групп (где &gt; 99% значений — нули). Они были полностью удалены из </a:t>
            </a:r>
            <a:r>
              <a:rPr lang="ru-RU" sz="2000" dirty="0" err="1"/>
              <a:t>пайплайна</a:t>
            </a:r>
            <a:r>
              <a:rPr lang="ru-RU" sz="2000" dirty="0"/>
              <a:t>, чтобы модели не тратили на них кванты важности.</a:t>
            </a:r>
          </a:p>
        </p:txBody>
      </p:sp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7" descr="Цифровой фон точек данных">
            <a:extLst>
              <a:ext uri="{FF2B5EF4-FFF2-40B4-BE49-F238E27FC236}">
                <a16:creationId xmlns:a16="http://schemas.microsoft.com/office/drawing/2014/main" id="{1358CD3B-43A8-5BF7-2E60-B0563F068D1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8A84D4AF-8D29-5A55-F3F8-1E928E3B0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6680"/>
            <a:ext cx="9144000" cy="2286000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Архитектура гибридного ансамбля моделей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415B3EE0-805E-4103-B3B6-E4E620EB1759}"/>
              </a:ext>
            </a:extLst>
          </p:cNvPr>
          <p:cNvSpPr txBox="1">
            <a:spLocks/>
          </p:cNvSpPr>
          <p:nvPr/>
        </p:nvSpPr>
        <p:spPr>
          <a:xfrm>
            <a:off x="0" y="6429575"/>
            <a:ext cx="5262694" cy="84766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24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ru-RU" sz="16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dirty="0"/>
              <a:t>Виктор Борисович</a:t>
            </a:r>
          </a:p>
        </p:txBody>
      </p:sp>
    </p:spTree>
    <p:extLst>
      <p:ext uri="{BB962C8B-B14F-4D97-AF65-F5344CB8AC3E}">
        <p14:creationId xmlns:p14="http://schemas.microsoft.com/office/powerpoint/2010/main" val="285551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ъект 3">
            <a:extLst>
              <a:ext uri="{FF2B5EF4-FFF2-40B4-BE49-F238E27FC236}">
                <a16:creationId xmlns:a16="http://schemas.microsoft.com/office/drawing/2014/main" id="{B38FAF81-7008-48C1-A069-CDC9F9F653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A68DB345-B485-4607-A381-30E56F38BCC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E1BFD127-1498-4ED7-B39F-72CDAF216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9F4D25B-BCFF-4A10-8A22-0EF11F321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51935DEC-94AD-4EE7-AA5C-7FE44D12D7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C14B247D-37AE-497B-8AE9-EFE308BE2955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0397" y="165051"/>
            <a:ext cx="5973583" cy="1237360"/>
          </a:xfrm>
          <a:noFill/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/>
            <a:r>
              <a:rPr lang="ru-RU" dirty="0"/>
              <a:t>Контроль качества</a:t>
            </a:r>
          </a:p>
        </p:txBody>
      </p:sp>
      <p:graphicFrame>
        <p:nvGraphicFramePr>
          <p:cNvPr id="16" name="Местозаполнитель таблицы 2">
            <a:extLst>
              <a:ext uri="{FF2B5EF4-FFF2-40B4-BE49-F238E27FC236}">
                <a16:creationId xmlns:a16="http://schemas.microsoft.com/office/drawing/2014/main" id="{1904F965-D30E-5A83-B17B-7D030326E77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364609604"/>
              </p:ext>
            </p:extLst>
          </p:nvPr>
        </p:nvGraphicFramePr>
        <p:xfrm>
          <a:off x="5380398" y="1412041"/>
          <a:ext cx="5973581" cy="2886144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97012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1353395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405227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244831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721536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Показатель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Train Mean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Test Mean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Test Min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721536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IC50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204.54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143.58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0.40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72153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CC50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577.43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490.79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10.26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721536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SI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89.15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>
                          <a:effectLst/>
                        </a:rPr>
                        <a:t>14.31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effectLst/>
                        </a:rPr>
                        <a:t>0.99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5EE9CBE-8553-43D4-B5A4-9C74B810F71B}"/>
              </a:ext>
            </a:extLst>
          </p:cNvPr>
          <p:cNvSpPr txBox="1"/>
          <p:nvPr/>
        </p:nvSpPr>
        <p:spPr>
          <a:xfrm>
            <a:off x="5380398" y="4748105"/>
            <a:ext cx="59735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Связь SI и CC50/IC50:</a:t>
            </a:r>
          </a:p>
          <a:p>
            <a:r>
              <a:rPr lang="ru-RU" sz="2400" dirty="0"/>
              <a:t>  • Среднее отклонение от формулы: 2.52</a:t>
            </a:r>
          </a:p>
          <a:p>
            <a:r>
              <a:rPr lang="ru-RU" sz="2400" dirty="0"/>
              <a:t>  • Корреляция SI с CC50/IC50: 0.9934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2F84E2E9-6995-4B8E-99D0-98B5B3674D1F}"/>
              </a:ext>
            </a:extLst>
          </p:cNvPr>
          <p:cNvSpPr/>
          <p:nvPr/>
        </p:nvSpPr>
        <p:spPr>
          <a:xfrm>
            <a:off x="377505" y="92227"/>
            <a:ext cx="4449029" cy="6673546"/>
          </a:xfrm>
          <a:prstGeom prst="roundRect">
            <a:avLst/>
          </a:prstGeom>
          <a:solidFill>
            <a:srgbClr val="12B1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1BF80DD9-5694-478A-9253-AC33FAA205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505" y="92227"/>
            <a:ext cx="4449029" cy="6673546"/>
          </a:xfrm>
        </p:spPr>
      </p:pic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5C4A7DC2-42C3-FDDF-02BF-9598D75A6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9378" y="5232629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algn="ctr" rtl="0"/>
            <a:endParaRPr lang="ru-RU" dirty="0">
              <a:latin typeface="Calibri" panose="020F0502020204030204" pitchFamily="34" charset="0"/>
            </a:endParaRPr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21106B59-80B8-CEED-0BCA-BC3F80A85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803321" y="682622"/>
            <a:ext cx="734257" cy="760506"/>
            <a:chOff x="5243759" y="1363788"/>
            <a:chExt cx="734257" cy="760506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73C2F317-81E4-3678-2FF2-495B3A95470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A7C6D33A-37B7-D2C4-2C1C-6D5253D0D480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  <p:sp>
          <p:nvSpPr>
            <p:cNvPr id="8" name="Полилиния 8">
              <a:extLst>
                <a:ext uri="{FF2B5EF4-FFF2-40B4-BE49-F238E27FC236}">
                  <a16:creationId xmlns:a16="http://schemas.microsoft.com/office/drawing/2014/main" id="{18145A95-72C3-9BFC-32D2-908F235E389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algn="ctr" rtl="0"/>
              <a:endParaRPr lang="ru-RU" dirty="0">
                <a:latin typeface="Calibri" panose="020F0502020204030204" pitchFamily="34" charset="0"/>
              </a:endParaRPr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74" y="196900"/>
            <a:ext cx="4899628" cy="2331490"/>
          </a:xfrm>
          <a:noFill/>
        </p:spPr>
        <p:txBody>
          <a:bodyPr rtlCol="0" anchor="b"/>
          <a:lstStyle>
            <a:defPPr>
              <a:defRPr lang="ru-RU"/>
            </a:defPPr>
          </a:lstStyle>
          <a:p>
            <a:r>
              <a:rPr lang="ru-RU" b="1" dirty="0"/>
              <a:t>Заключение и Перспективы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3162" y="2827209"/>
            <a:ext cx="4917440" cy="3442144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ru-RU"/>
            </a:def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Итог: Построен чистый, стабильный и воспроизводимый </a:t>
            </a:r>
            <a:r>
              <a:rPr lang="ru-RU" dirty="0" err="1"/>
              <a:t>пайплайн</a:t>
            </a:r>
            <a:r>
              <a:rPr lang="ru-RU" dirty="0"/>
              <a:t>, устойчивый к химическим выбросам.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Что можно улучшить: Внедрение 3D-дескрипторов или </a:t>
            </a:r>
            <a:r>
              <a:rPr lang="ru-RU" dirty="0" err="1"/>
              <a:t>графовых</a:t>
            </a:r>
            <a:r>
              <a:rPr lang="ru-RU" dirty="0"/>
              <a:t> нейросетей (GNN) для явного кодирования пространственной изомерии молекул, которую не смогли отловить классические табличные фичи.</a:t>
            </a:r>
          </a:p>
        </p:txBody>
      </p:sp>
      <p:pic>
        <p:nvPicPr>
          <p:cNvPr id="20" name="Рисунок 19" descr="График крупным планом">
            <a:extLst>
              <a:ext uri="{FF2B5EF4-FFF2-40B4-BE49-F238E27FC236}">
                <a16:creationId xmlns:a16="http://schemas.microsoft.com/office/drawing/2014/main" id="{A7019768-5E2A-F9D1-62D6-EC7C5F0BBE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r="9"/>
          <a:stretch/>
        </p:blipFill>
        <p:spPr>
          <a:xfrm>
            <a:off x="6095588" y="0"/>
            <a:ext cx="6095998" cy="6858000"/>
          </a:xfrm>
        </p:spPr>
      </p:pic>
    </p:spTree>
    <p:extLst>
      <p:ext uri="{BB962C8B-B14F-4D97-AF65-F5344CB8AC3E}">
        <p14:creationId xmlns:p14="http://schemas.microsoft.com/office/powerpoint/2010/main" val="414523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36" y="549274"/>
            <a:ext cx="5179330" cy="2841829"/>
          </a:xfrm>
          <a:noFill/>
        </p:spPr>
        <p:txBody>
          <a:bodyPr rtlCol="0" anchor="b">
            <a:norm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Спасибо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7" y="3646704"/>
            <a:ext cx="5179330" cy="2706160"/>
          </a:xfrm>
          <a:noFill/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dirty="0"/>
              <a:t>ДПО Команда 1</a:t>
            </a:r>
          </a:p>
          <a:p>
            <a:r>
              <a:rPr lang="en-US" dirty="0"/>
              <a:t>Data Engineer</a:t>
            </a:r>
            <a:r>
              <a:rPr lang="ru-RU" dirty="0"/>
              <a:t>: Борис Олегович</a:t>
            </a:r>
          </a:p>
          <a:p>
            <a:r>
              <a:rPr lang="en-US" dirty="0"/>
              <a:t>ML Engineer: </a:t>
            </a:r>
            <a:r>
              <a:rPr lang="ru-RU" dirty="0"/>
              <a:t>Виктор Борисов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25" name="Рисунок 24" descr="Сеть крупным планом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>
          <a:xfrm>
            <a:off x="5926138" y="549275"/>
            <a:ext cx="5654675" cy="5788025"/>
          </a:xfrm>
        </p:spPr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257_TF33713516_Win32" id="{06EABBEA-3AAF-44A0-915C-8FB22919E62B}" vid="{153AF236-5B2D-4019-8D59-27DF8338828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{07AEA7C5-8107-4E36-A788-3316B16482F9}TF7eddf224-c89c-478f-8f2f-bfb086892169772cd78c_win32-5c8ed59712c8</Template>
  <TotalTime>48</TotalTime>
  <Words>523</Words>
  <Application>Microsoft Office PowerPoint</Application>
  <PresentationFormat>Широкоэкранный</PresentationFormat>
  <Paragraphs>72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Cambria Math</vt:lpstr>
      <vt:lpstr>Gill Sans MT</vt:lpstr>
      <vt:lpstr>Walbaum Display</vt:lpstr>
      <vt:lpstr>3DFloatVTI</vt:lpstr>
      <vt:lpstr>Интеллектуальный анализ и прогнозирование антивирусной активности соединений против гриппа.</vt:lpstr>
      <vt:lpstr>Проблема и Бизнес-логика</vt:lpstr>
      <vt:lpstr>Data Engineering и Борьба с шумом</vt:lpstr>
      <vt:lpstr>Лечение экстремальной асимметрии признаков</vt:lpstr>
      <vt:lpstr>Презентация PowerPoint</vt:lpstr>
      <vt:lpstr>Архитектура гибридного ансамбля моделей</vt:lpstr>
      <vt:lpstr>Презентация PowerPoint</vt:lpstr>
      <vt:lpstr>Презентация PowerPoint</vt:lpstr>
      <vt:lpstr>Контроль качества</vt:lpstr>
      <vt:lpstr>Заключение и Перспективы</vt:lpstr>
      <vt:lpstr>Спасибо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Интеллектуальный анализ и прогнозирование антивирусной активности соединений против гриппа.</dc:title>
  <dc:creator>Амелякин Борис</dc:creator>
  <cp:lastModifiedBy>Амелякин Борис</cp:lastModifiedBy>
  <cp:revision>3</cp:revision>
  <dcterms:created xsi:type="dcterms:W3CDTF">2026-05-24T16:19:10Z</dcterms:created>
  <dcterms:modified xsi:type="dcterms:W3CDTF">2026-05-24T17:50:27Z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